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5448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4F7FA"/>
                </a:solidFill>
                <a:latin typeface="Aptos Display"/>
              </a:defRPr>
            </a:pPr>
            <a:r>
              <a:t>NewsBot Intelligence System 2.0</a:t>
            </a:r>
          </a:p>
          <a:p>
            <a:pPr algn="ctr">
              <a:spcBef>
                <a:spcPts val="1600"/>
              </a:spcBef>
              <a:defRPr sz="2200">
                <a:solidFill>
                  <a:srgbClr val="3794FF"/>
                </a:solidFill>
              </a:defRPr>
            </a:pPr>
            <a:r>
              <a:t>Final Project — ITAI 2373 Natural Language Processing</a:t>
            </a:r>
          </a:p>
          <a:p>
            <a:pPr algn="ctr">
              <a:spcBef>
                <a:spcPts val="2000"/>
              </a:spcBef>
              <a:defRPr sz="1800">
                <a:solidFill>
                  <a:srgbClr val="B9C3D0"/>
                </a:solidFill>
              </a:defRPr>
            </a:pPr>
            <a:r>
              <a:t>Jose Moreno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From midterm NewsBot to an integrated advanced NLP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4F7FA"/>
                </a:solidFill>
                <a:latin typeface="Aptos"/>
              </a:defRPr>
            </a:pPr>
            <a:r>
              <a:t>• Analyze and organize BBC news articles through an end-to-end NLP workflow.</a:t>
            </a:r>
          </a:p>
          <a:p>
            <a:pPr>
              <a:spcAft>
                <a:spcPts val="1200"/>
              </a:spcAft>
              <a:defRPr sz="2000">
                <a:solidFill>
                  <a:srgbClr val="F4F7FA"/>
                </a:solidFill>
                <a:latin typeface="Aptos"/>
              </a:defRPr>
            </a:pPr>
            <a:r>
              <a:t>• Preserve the working midterm foundation while adding advanced final-project capabilities.</a:t>
            </a:r>
          </a:p>
          <a:p>
            <a:pPr>
              <a:spcAft>
                <a:spcPts val="1200"/>
              </a:spcAft>
              <a:defRPr sz="2000">
                <a:solidFill>
                  <a:srgbClr val="F4F7FA"/>
                </a:solidFill>
                <a:latin typeface="Aptos"/>
              </a:defRPr>
            </a:pPr>
            <a:r>
              <a:t>• Combine machine learning, linguistic analysis, information retrieval, multilingual NLP, and conversational interaction.</a:t>
            </a:r>
          </a:p>
          <a:p>
            <a:pPr>
              <a:spcAft>
                <a:spcPts val="1200"/>
              </a:spcAft>
              <a:defRPr sz="2000">
                <a:solidFill>
                  <a:srgbClr val="F4F7FA"/>
                </a:solidFill>
                <a:latin typeface="Aptos"/>
              </a:defRPr>
            </a:pPr>
            <a:r>
              <a:t>• Produce a portfolio-quality system that can be extended toward real-world news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Dataset and Processing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BBC News Train.csv provides the common corpus for training, evaluation, and demonstrations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Input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Categorized BBC news articles used throughout the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81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27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Preprocessing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Cleaning, normalization, stop-word handling, and lemmatization prepare article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9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6551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Representation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TF-IDF and count-based features support classification and topic modeling.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Validation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The same dataset supports model evaluation and advanced-module demonstrations.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27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Important limitation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The dataset does not provide authentic publication dates for genuine temporal trend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9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551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Design choice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The final project preserves the original working Modules 1–8 foundation.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Major components of NewsBot Intelligence System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Data &amp; Preprocessing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BBC News dataset, cleaning and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81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27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Representation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TF-IDF and count-based text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9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6551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Core NLP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POS, dependencies, sentiment and 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Machine Learning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Naive Bayes, Logistic Regression and SVM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27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Advanced Analysis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LDA/NMF topics, summarization and semantic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9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551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Interaction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Language detection, translation and conversational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Core NLP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Capabilities retained and integrated from the midterm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Text Processing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Cleaning and preprocessing prepare raw article text for analysis and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81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27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Linguistic Analysis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POS tagging and dependency parsing examine grammatical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9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6551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Information Extraction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VADER sentiment and spaCy NER enrich article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Classification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Multiple supervised classifiers are trained and compared.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27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Integration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The strongest trained model is reused by the final NewsBot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Classification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Supervised learning remains the core routing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Naive Bayes, Logistic Regression, and SVM are compared rather than relying on a single classifier.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Held-out test accuracy measures performance on unseen data.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Three-fold cross-validation provides an additional stability check across training splits.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The best-performing trained model is selected for the integrated NewsBot 2.0 system.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Final evaluation records classification performance alongside the advanced NLP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Final-Project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Advanced modules added to NewsBot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Topic Modeling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LDA and NMF discover latent themes across the corpus.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81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27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Summarization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Transformer-based summarization with an extractive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9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6551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Semantic Search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Retrieves articles by meaning rather than exact keyword 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Query Expansion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Broadens searches with related terms.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27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Multilingual Intelligence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Language detection, translation, and cross-language retrieval.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9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551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Conversational Interface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Routes natural-language requests to NewsBot capabilities.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Topic Modeling: LDA + NMF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Two unsupervised approaches provide complementary views of the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LDA uses count-based document features to estimate probabilistic topic distributions.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NMF uses TF-IDF features to discover additive latent themes.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Top words are inspected to interpret each discovered topic.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Article topic assignments are compared with known BBC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Normalized Mutual Information (NMI) is used as a quantitative comparison measure.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Topic labels still require human interpretation because the models are unsupervised.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Summarization and Semantic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Making the article collection faster to explore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5399531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55063"/>
            <a:ext cx="50703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Summarization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NewsBot attempts transformer summarization and can fall back to an extractive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059" y="1508760"/>
            <a:ext cx="5399531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9651" y="1655063"/>
            <a:ext cx="50703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Semantic Retrieval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Sentence embeddings are used when available; TF-IDF similarity provides a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75887"/>
            <a:ext cx="5399531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822191"/>
            <a:ext cx="50703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Ranked Results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Search returns the most relevant articles with similarity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59" y="3675887"/>
            <a:ext cx="5399531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9651" y="3822191"/>
            <a:ext cx="50703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Query Expansion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Related terms help broaden retrieval beyond the user's exact wording.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Multilingual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Cross-language access is part of the final NewsBot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User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370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Detect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962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Translate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Return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Translate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Automatic language detection identifies the likely input language.</a:t>
            </a:r>
          </a:p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The notebook demonstrates English–Spanish translation.</a:t>
            </a:r>
          </a:p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Translated queries can be used for cross-language article retrieval.</a:t>
            </a:r>
          </a:p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Translation is treated as an automated aid because tone, idioms, and context can be lost.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Conversational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Natural-language commands replace manual calls to individual NLP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Statistics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“How many articles and categories are in the dataset?”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81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27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Search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“Show me articles about mobile phones and software.”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9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6551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Summary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“Summarize article 1833.”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Sentiment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Ask about the tone of a category or article.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27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Entities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Ask which organizations or people appear in the news.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9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551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Translation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“Translate article 1833 into Spanish.”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Integrated NewsBot 2.0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A single article passes through multiple analysis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Article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370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962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Sentiment + 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Topics +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42615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794FF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331720"/>
            <a:ext cx="1417320" cy="96012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2542032"/>
            <a:ext cx="1307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The final integration returns predicted category and confidence, sentiment, entities, topic assignments, summary, detected language, and optional translated summary.</a:t>
            </a:r>
          </a:p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The notebook demonstrates the integrated system on technology/business, sports, and government/economic-policy examples.</a:t>
            </a:r>
          </a:p>
          <a:p>
            <a:pPr>
              <a:spcAft>
                <a:spcPts val="1200"/>
              </a:spcAft>
              <a:defRPr sz="1600">
                <a:solidFill>
                  <a:srgbClr val="F4F7FA"/>
                </a:solidFill>
                <a:latin typeface="Aptos"/>
              </a:defRPr>
            </a:pPr>
            <a:r>
              <a:t>• Semantic search and conversational queries are exposed through the same NewsBot 2.0 interface.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Testing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Component-level checks plus an end-to-end final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Classification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Held-out accuracy + 3-fold cross-validation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81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2752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Topic Models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LDA/NMF evaluated with NMI and topic interpretation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1960" y="1508760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6551" y="1655063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Semantic Search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Active retrieval backend is reported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Summarization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Transformer/fallback status is recorded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2752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Multilingual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Detection, translation, and cross-language search are demonstrated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960" y="3675887"/>
            <a:ext cx="3532632" cy="1965960"/>
          </a:xfrm>
          <a:prstGeom prst="roundRect">
            <a:avLst/>
          </a:prstGeom>
          <a:solidFill>
            <a:srgbClr val="1D2633"/>
          </a:solidFill>
          <a:ln>
            <a:solidFill>
              <a:srgbClr val="3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551" y="3822191"/>
            <a:ext cx="32034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3794FF"/>
                </a:solidFill>
              </a:defRPr>
            </a:pPr>
            <a:r>
              <a:t>Conversation</a:t>
            </a:r>
          </a:p>
          <a:p>
            <a:pPr>
              <a:spcBef>
                <a:spcPts val="700"/>
              </a:spcBef>
              <a:defRPr sz="1300">
                <a:solidFill>
                  <a:srgbClr val="F4F7FA"/>
                </a:solidFill>
              </a:defRPr>
            </a:pPr>
            <a:r>
              <a:t>Supported intents and example requests are exercised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Business Value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How the prototype could support real information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Media monitoring and automatic content organization.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Faster article review through summarization.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Semantic information retrieval for analysts and researchers.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Entity and sentiment tracking for market or competitive intelligence.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Multilingual access through translation and cross-language search.</a:t>
            </a:r>
          </a:p>
          <a:p>
            <a:pPr>
              <a:spcAft>
                <a:spcPts val="12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t>• Natural-language interaction reduces the need to operate each NLP component manually.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492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4BE4C"/>
                </a:solidFill>
              </a:defRPr>
            </a:pPr>
            <a:r>
              <a:t>ROI should be measured in a production deployment using staff time saved, processing volume, infrastructure/model costs, and analyst productivity.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Limitations and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9C3D0"/>
                </a:solidFill>
                <a:latin typeface="Aptos"/>
              </a:defRPr>
            </a:pPr>
            <a:r>
              <a:t>Automated analysis still requires human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The dataset represents one publisher and a limited historical collection.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VADER can misinterpret irony, complex political language, or neutral reporting about negative events.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Named Entity Recognition can miss uncommon names or misclassify ambiguous terms.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Topic labels require human interpretation.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Translation and summarization can lose or distort context.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No authentic dates means no reliable temporal-trend claims from this dataset.</a:t>
            </a:r>
          </a:p>
          <a:p>
            <a:pPr>
              <a:spcAft>
                <a:spcPts val="1200"/>
              </a:spcAft>
              <a:defRPr sz="1700">
                <a:solidFill>
                  <a:srgbClr val="F4F7FA"/>
                </a:solidFill>
                <a:latin typeface="Aptos"/>
              </a:defRPr>
            </a:pPr>
            <a:r>
              <a:t>• Human review remains important for high-impact editorial or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185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  <a:latin typeface="Aptos Display"/>
              </a:defRPr>
            </a:pPr>
            <a:r>
              <a:t>Conclusion and Future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4F7FA"/>
                </a:solidFill>
                <a:latin typeface="Aptos"/>
              </a:defRPr>
            </a:pPr>
            <a:r>
              <a:t>• NewsBot 2.0 integrates the major NLP concepts covered in ITAI 2373 into one working system.</a:t>
            </a:r>
          </a:p>
          <a:p>
            <a:pPr>
              <a:spcAft>
                <a:spcPts val="1200"/>
              </a:spcAft>
              <a:defRPr sz="1900">
                <a:solidFill>
                  <a:srgbClr val="F4F7FA"/>
                </a:solidFill>
                <a:latin typeface="Aptos"/>
              </a:defRPr>
            </a:pPr>
            <a:r>
              <a:t>• The project progresses from preprocessing and classification to topic modeling, semantic retrieval, multilingual processing, and conversational AI.</a:t>
            </a:r>
          </a:p>
          <a:p>
            <a:pPr>
              <a:spcAft>
                <a:spcPts val="1200"/>
              </a:spcAft>
              <a:defRPr sz="1900">
                <a:solidFill>
                  <a:srgbClr val="F4F7FA"/>
                </a:solidFill>
                <a:latin typeface="Aptos"/>
              </a:defRPr>
            </a:pPr>
            <a:r>
              <a:t>• Future improvements include live news feeds, stronger transformer models, larger multilingual datasets, improved conversational memory, and web/API deployment.</a:t>
            </a:r>
          </a:p>
          <a:p>
            <a:pPr>
              <a:spcAft>
                <a:spcPts val="1200"/>
              </a:spcAft>
              <a:defRPr sz="1900">
                <a:solidFill>
                  <a:srgbClr val="F4F7FA"/>
                </a:solidFill>
                <a:latin typeface="Aptos"/>
              </a:defRPr>
            </a:pPr>
            <a:r>
              <a:t>• The completed notebook, modular repository, tests, and documentation provide a portfolio-ready foundation for further development.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94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