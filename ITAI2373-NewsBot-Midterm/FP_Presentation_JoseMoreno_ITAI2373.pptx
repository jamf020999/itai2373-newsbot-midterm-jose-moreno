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NewsBot Intelligence System 2.0</a:t>
            </a:r>
          </a:p>
          <a:p>
            <a:pPr algn="ctr"/>
            <a:r>
              <a:rPr sz="2000">
                <a:solidFill>
                  <a:srgbClr val="FFFFFF"/>
                </a:solidFill>
                <a:latin typeface="Arial"/>
              </a:rPr>
              <a:t>Final Project – ITAI 2373 Natural Language Processing</a:t>
            </a:r>
          </a:p>
          <a:p>
            <a:pPr algn="ctr"/>
            <a:r>
              <a:rPr sz="1800">
                <a:solidFill>
                  <a:srgbClr val="FFFFFF"/>
                </a:solidFill>
                <a:latin typeface="Arial"/>
              </a:rPr>
              <a:t>Jose Moreno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D44"/>
                </a:solidFill>
                <a:latin typeface="Arial"/>
              </a:rP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3"/>
                </a:solidFill>
                <a:latin typeface="Arial"/>
              </a:rPr>
              <a:t>Transform the midterm NewsBot into an integrated advanced NLP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91919"/>
                </a:solidFill>
                <a:latin typeface="Arial"/>
              </a:defRPr>
            </a:pPr>
            <a:r>
              <a:t>Analyze and organize BBC news articles using an end-to-end NLP workflow.</a:t>
            </a:r>
          </a:p>
          <a:p>
            <a:pPr>
              <a:spcAft>
                <a:spcPts val="1100"/>
              </a:spcAft>
              <a:defRPr sz="2000">
                <a:solidFill>
                  <a:srgbClr val="191919"/>
                </a:solidFill>
                <a:latin typeface="Arial"/>
              </a:defRPr>
            </a:pPr>
            <a:r>
              <a:t>Preserve the working midterm foundation while adding advanced final-project capabilities.</a:t>
            </a:r>
          </a:p>
          <a:p>
            <a:pPr>
              <a:spcAft>
                <a:spcPts val="1100"/>
              </a:spcAft>
              <a:defRPr sz="2000">
                <a:solidFill>
                  <a:srgbClr val="191919"/>
                </a:solidFill>
                <a:latin typeface="Arial"/>
              </a:defRPr>
            </a:pPr>
            <a:r>
              <a:t>Combine machine learning, linguistic analysis, information retrieval, multilingual NLP, and conversational interaction.</a:t>
            </a:r>
          </a:p>
          <a:p>
            <a:pPr>
              <a:spcAft>
                <a:spcPts val="1100"/>
              </a:spcAft>
              <a:defRPr sz="2000">
                <a:solidFill>
                  <a:srgbClr val="191919"/>
                </a:solidFill>
                <a:latin typeface="Arial"/>
              </a:defRPr>
            </a:pPr>
            <a:r>
              <a:t>Demonstrate a portfolio-quality system that can be extended toward real-world news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D44"/>
                </a:solidFill>
                <a:latin typeface="Arial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3"/>
                </a:solidFill>
                <a:latin typeface="Arial"/>
              </a:rPr>
              <a:t>Major components of NewsBot Intelligence System 2.0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063240" cy="1508760"/>
          </a:xfrm>
          <a:prstGeom prst="roundRect">
            <a:avLst/>
          </a:prstGeom>
          <a:solidFill>
            <a:srgbClr val="EEF3F7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645919"/>
            <a:ext cx="2734056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D44"/>
                </a:solidFill>
                <a:latin typeface="Arial"/>
              </a:rPr>
              <a:t>Data &amp; Preprocessing</a:t>
            </a:r>
          </a:p>
          <a:p>
            <a:pPr>
              <a:defRPr sz="1300">
                <a:solidFill>
                  <a:srgbClr val="191919"/>
                </a:solidFill>
                <a:latin typeface="Arial"/>
              </a:defRPr>
            </a:pPr>
            <a:r>
              <a:t>BBC News dataset, cleaning and 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508760"/>
            <a:ext cx="3063240" cy="1508760"/>
          </a:xfrm>
          <a:prstGeom prst="roundRect">
            <a:avLst/>
          </a:prstGeom>
          <a:solidFill>
            <a:srgbClr val="EEF3F7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5112" y="1645919"/>
            <a:ext cx="2734056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D44"/>
                </a:solidFill>
                <a:latin typeface="Arial"/>
              </a:rPr>
              <a:t>Representation</a:t>
            </a:r>
          </a:p>
          <a:p>
            <a:pPr>
              <a:defRPr sz="1300">
                <a:solidFill>
                  <a:srgbClr val="191919"/>
                </a:solidFill>
                <a:latin typeface="Arial"/>
              </a:defRPr>
            </a:pPr>
            <a:r>
              <a:t>TF-IDF and count-based text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08760"/>
            <a:ext cx="3063240" cy="1508760"/>
          </a:xfrm>
          <a:prstGeom prst="roundRect">
            <a:avLst/>
          </a:prstGeom>
          <a:solidFill>
            <a:srgbClr val="EEF3F7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45552" y="1645919"/>
            <a:ext cx="2734056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D44"/>
                </a:solidFill>
                <a:latin typeface="Arial"/>
              </a:rPr>
              <a:t>Core NLP</a:t>
            </a:r>
          </a:p>
          <a:p>
            <a:pPr>
              <a:defRPr sz="1300">
                <a:solidFill>
                  <a:srgbClr val="191919"/>
                </a:solidFill>
                <a:latin typeface="Arial"/>
              </a:defRPr>
            </a:pPr>
            <a:r>
              <a:t>POS, dependencies, sentiment and 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3063240" cy="1508760"/>
          </a:xfrm>
          <a:prstGeom prst="roundRect">
            <a:avLst/>
          </a:prstGeom>
          <a:solidFill>
            <a:srgbClr val="EEF3F7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3840480"/>
            <a:ext cx="2734056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D44"/>
                </a:solidFill>
                <a:latin typeface="Arial"/>
              </a:rPr>
              <a:t>Machine Learning</a:t>
            </a:r>
          </a:p>
          <a:p>
            <a:pPr>
              <a:defRPr sz="1300">
                <a:solidFill>
                  <a:srgbClr val="191919"/>
                </a:solidFill>
                <a:latin typeface="Arial"/>
              </a:defRPr>
            </a:pPr>
            <a:r>
              <a:t>Naive Bayes, Logistic Regression and SVM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3703320"/>
            <a:ext cx="3063240" cy="1508760"/>
          </a:xfrm>
          <a:prstGeom prst="roundRect">
            <a:avLst/>
          </a:prstGeom>
          <a:solidFill>
            <a:srgbClr val="EEF3F7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3840480"/>
            <a:ext cx="2734056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D44"/>
                </a:solidFill>
                <a:latin typeface="Arial"/>
              </a:rPr>
              <a:t>Advanced Analysis</a:t>
            </a:r>
          </a:p>
          <a:p>
            <a:pPr>
              <a:defRPr sz="1300">
                <a:solidFill>
                  <a:srgbClr val="191919"/>
                </a:solidFill>
                <a:latin typeface="Arial"/>
              </a:defRPr>
            </a:pPr>
            <a:r>
              <a:t>LDA/NMF topics, summarization and semantic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703320"/>
            <a:ext cx="3063240" cy="1508760"/>
          </a:xfrm>
          <a:prstGeom prst="roundRect">
            <a:avLst/>
          </a:prstGeom>
          <a:solidFill>
            <a:srgbClr val="EEF3F7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3840480"/>
            <a:ext cx="2734056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D44"/>
                </a:solidFill>
                <a:latin typeface="Arial"/>
              </a:rPr>
              <a:t>Interaction</a:t>
            </a:r>
          </a:p>
          <a:p>
            <a:pPr>
              <a:defRPr sz="1300">
                <a:solidFill>
                  <a:srgbClr val="191919"/>
                </a:solidFill>
                <a:latin typeface="Arial"/>
              </a:defRPr>
            </a:pPr>
            <a:r>
              <a:t>Language detection, translation and conversational queries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D44"/>
                </a:solidFill>
                <a:latin typeface="Arial"/>
              </a:rPr>
              <a:t>Core NLP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3"/>
                </a:solidFill>
                <a:latin typeface="Arial"/>
              </a:rPr>
              <a:t>Capabilities retained and integrated from the midterm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3429000" cy="1828800"/>
          </a:xfrm>
          <a:prstGeom prst="roundRect">
            <a:avLst/>
          </a:prstGeom>
          <a:solidFill>
            <a:srgbClr val="EEF3F7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600200"/>
            <a:ext cx="30998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D44"/>
                </a:solidFill>
                <a:latin typeface="Arial"/>
              </a:rPr>
              <a:t>Text Processing</a:t>
            </a:r>
          </a:p>
          <a:p>
            <a:pPr>
              <a:defRPr sz="1300">
                <a:solidFill>
                  <a:srgbClr val="191919"/>
                </a:solidFill>
                <a:latin typeface="Arial"/>
              </a:defRPr>
            </a:pPr>
            <a:r>
              <a:t>Cleaning and preprocessing prepare raw article text for analysis and model 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29000" cy="1828800"/>
          </a:xfrm>
          <a:prstGeom prst="roundRect">
            <a:avLst/>
          </a:prstGeom>
          <a:solidFill>
            <a:srgbClr val="EEF3F7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00200"/>
            <a:ext cx="30998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D44"/>
                </a:solidFill>
                <a:latin typeface="Arial"/>
              </a:rPr>
              <a:t>Linguistic Analysis</a:t>
            </a:r>
          </a:p>
          <a:p>
            <a:pPr>
              <a:defRPr sz="1300">
                <a:solidFill>
                  <a:srgbClr val="191919"/>
                </a:solidFill>
                <a:latin typeface="Arial"/>
              </a:defRPr>
            </a:pPr>
            <a:r>
              <a:t>Part-of-Speech tagging and dependency parsing examine grammatical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63040"/>
            <a:ext cx="3429000" cy="1828800"/>
          </a:xfrm>
          <a:prstGeom prst="roundRect">
            <a:avLst/>
          </a:prstGeom>
          <a:solidFill>
            <a:srgbClr val="EEF3F7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1" y="1600200"/>
            <a:ext cx="30998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D44"/>
                </a:solidFill>
                <a:latin typeface="Arial"/>
              </a:rPr>
              <a:t>Information Extraction</a:t>
            </a:r>
          </a:p>
          <a:p>
            <a:pPr>
              <a:defRPr sz="1300">
                <a:solidFill>
                  <a:srgbClr val="191919"/>
                </a:solidFill>
                <a:latin typeface="Arial"/>
              </a:defRPr>
            </a:pPr>
            <a:r>
              <a:t>VADER sentiment and spaCy Named Entity Recognition enrich article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3886200"/>
            <a:ext cx="3429000" cy="1600200"/>
          </a:xfrm>
          <a:prstGeom prst="roundRect">
            <a:avLst/>
          </a:prstGeom>
          <a:solidFill>
            <a:srgbClr val="EEF3F7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4023360"/>
            <a:ext cx="30998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D44"/>
                </a:solidFill>
                <a:latin typeface="Arial"/>
              </a:rPr>
              <a:t>Classification</a:t>
            </a:r>
          </a:p>
          <a:p>
            <a:pPr>
              <a:defRPr sz="1300">
                <a:solidFill>
                  <a:srgbClr val="191919"/>
                </a:solidFill>
                <a:latin typeface="Arial"/>
              </a:defRPr>
            </a:pPr>
            <a:r>
              <a:t>Multiple supervised classifiers are trained and compared using held-out accuracy and cross-validation.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886200"/>
            <a:ext cx="3429000" cy="1600200"/>
          </a:xfrm>
          <a:prstGeom prst="roundRect">
            <a:avLst/>
          </a:prstGeom>
          <a:solidFill>
            <a:srgbClr val="EEF3F7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4023360"/>
            <a:ext cx="309981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D44"/>
                </a:solidFill>
                <a:latin typeface="Arial"/>
              </a:rPr>
              <a:t>Integration</a:t>
            </a:r>
          </a:p>
          <a:p>
            <a:pPr>
              <a:defRPr sz="1300">
                <a:solidFill>
                  <a:srgbClr val="191919"/>
                </a:solidFill>
                <a:latin typeface="Arial"/>
              </a:defRPr>
            </a:pPr>
            <a:r>
              <a:t>The strongest trained model is reused as part of the complete NewsBot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D44"/>
                </a:solidFill>
                <a:latin typeface="Arial"/>
              </a:rPr>
              <a:t>Final-Project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3"/>
                </a:solidFill>
                <a:latin typeface="Arial"/>
              </a:rPr>
              <a:t>Advanced modules added to NewsBot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Topic Modeling: LDA and NMF discover latent themes across the news corpus.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Summarization: extractive and transformer/fallback methods condense article content.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Semantic Search: retrieves relevant articles by meaning rather than only exact keywords.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Query Expansion: broadens user searches with related terms.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Multilingual Intelligence: language detection, translation, and cross-language retrieval.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Conversational Interface: routes natural-language requests to NewsBot capabilities.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D44"/>
                </a:solidFill>
                <a:latin typeface="Arial"/>
              </a:rPr>
              <a:t>Integrated NewsBot 2.0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3"/>
                </a:solidFill>
                <a:latin typeface="Arial"/>
              </a:rPr>
              <a:t>A single article can pass through multiple analysis components.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423160"/>
            <a:ext cx="1417320" cy="914400"/>
          </a:xfrm>
          <a:prstGeom prst="roundRect">
            <a:avLst/>
          </a:prstGeom>
          <a:solidFill>
            <a:srgbClr val="EEF3F7"/>
          </a:solidFill>
          <a:ln>
            <a:solidFill>
              <a:srgbClr val="38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2606040"/>
            <a:ext cx="12710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2D44"/>
                </a:solidFill>
                <a:latin typeface="Arial"/>
              </a:rPr>
              <a:t>Article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633472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386791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5688" y="2423160"/>
            <a:ext cx="1417320" cy="914400"/>
          </a:xfrm>
          <a:prstGeom prst="roundRect">
            <a:avLst/>
          </a:prstGeom>
          <a:solidFill>
            <a:srgbClr val="EEF3F7"/>
          </a:solidFill>
          <a:ln>
            <a:solidFill>
              <a:srgbClr val="38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2606040"/>
            <a:ext cx="12710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2D44"/>
                </a:solidFill>
                <a:latin typeface="Arial"/>
              </a:rPr>
              <a:t>Preprocess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2633472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386791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9896" y="2423160"/>
            <a:ext cx="1417320" cy="914400"/>
          </a:xfrm>
          <a:prstGeom prst="roundRect">
            <a:avLst/>
          </a:prstGeom>
          <a:solidFill>
            <a:srgbClr val="EEF3F7"/>
          </a:solidFill>
          <a:ln>
            <a:solidFill>
              <a:srgbClr val="38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2606040"/>
            <a:ext cx="12710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2D44"/>
                </a:solidFill>
                <a:latin typeface="Arial"/>
              </a:rPr>
              <a:t>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7216" y="2633472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386791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4104" y="2423160"/>
            <a:ext cx="1417320" cy="914400"/>
          </a:xfrm>
          <a:prstGeom prst="roundRect">
            <a:avLst/>
          </a:prstGeom>
          <a:solidFill>
            <a:srgbClr val="EEF3F7"/>
          </a:solidFill>
          <a:ln>
            <a:solidFill>
              <a:srgbClr val="38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77256" y="2606040"/>
            <a:ext cx="12710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2D44"/>
                </a:solidFill>
                <a:latin typeface="Arial"/>
              </a:rPr>
              <a:t>Sentiment + Entities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1424" y="2633472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386791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8312" y="2423160"/>
            <a:ext cx="1417320" cy="914400"/>
          </a:xfrm>
          <a:prstGeom prst="roundRect">
            <a:avLst/>
          </a:prstGeom>
          <a:solidFill>
            <a:srgbClr val="EEF3F7"/>
          </a:solidFill>
          <a:ln>
            <a:solidFill>
              <a:srgbClr val="38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1464" y="2606040"/>
            <a:ext cx="12710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2D44"/>
                </a:solidFill>
                <a:latin typeface="Arial"/>
              </a:rPr>
              <a:t>Topics +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633472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386791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2423160"/>
            <a:ext cx="1417320" cy="914400"/>
          </a:xfrm>
          <a:prstGeom prst="roundRect">
            <a:avLst/>
          </a:prstGeom>
          <a:solidFill>
            <a:srgbClr val="EEF3F7"/>
          </a:solidFill>
          <a:ln>
            <a:solidFill>
              <a:srgbClr val="38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2606040"/>
            <a:ext cx="12710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2D44"/>
                </a:solidFill>
                <a:latin typeface="Arial"/>
              </a:rPr>
              <a:t>Translate /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2633472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386791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96728" y="2423160"/>
            <a:ext cx="1417320" cy="914400"/>
          </a:xfrm>
          <a:prstGeom prst="roundRect">
            <a:avLst/>
          </a:prstGeom>
          <a:solidFill>
            <a:srgbClr val="EEF3F7"/>
          </a:solidFill>
          <a:ln>
            <a:solidFill>
              <a:srgbClr val="38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2606040"/>
            <a:ext cx="12710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2D44"/>
                </a:solidFill>
                <a:latin typeface="Arial"/>
              </a:rPr>
              <a:t>Conversational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160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91919"/>
                </a:solidFill>
                <a:latin typeface="Arial"/>
              </a:defRPr>
            </a:pPr>
            <a:r>
              <a:t>The final notebook demonstrates that these modules operate together rather than as isolated exercises.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D44"/>
                </a:solidFill>
                <a:latin typeface="Arial"/>
              </a:rPr>
              <a:t>Testing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33271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F6973"/>
                </a:solidFill>
                <a:latin typeface="Arial"/>
              </a:rPr>
              <a:t>The notebook evaluates both individual components and the complete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1645920"/>
          </a:xfrm>
          <a:prstGeom prst="roundRect">
            <a:avLst/>
          </a:prstGeom>
          <a:solidFill>
            <a:srgbClr val="EEF3F7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45919"/>
            <a:ext cx="30540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D44"/>
                </a:solidFill>
                <a:latin typeface="Arial"/>
              </a:rPr>
              <a:t>Classification</a:t>
            </a:r>
          </a:p>
          <a:p>
            <a:pPr>
              <a:defRPr sz="1300">
                <a:solidFill>
                  <a:srgbClr val="191919"/>
                </a:solidFill>
                <a:latin typeface="Arial"/>
              </a:defRPr>
            </a:pPr>
            <a:r>
              <a:t>Held-out test accuracy plus 3-fold cross-validation compare the supervised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383280" cy="1645920"/>
          </a:xfrm>
          <a:prstGeom prst="roundRect">
            <a:avLst/>
          </a:prstGeom>
          <a:solidFill>
            <a:srgbClr val="EEF3F7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45919"/>
            <a:ext cx="30540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D44"/>
                </a:solidFill>
                <a:latin typeface="Arial"/>
              </a:rPr>
              <a:t>Topic Models</a:t>
            </a:r>
          </a:p>
          <a:p>
            <a:pPr>
              <a:defRPr sz="1300">
                <a:solidFill>
                  <a:srgbClr val="191919"/>
                </a:solidFill>
                <a:latin typeface="Arial"/>
              </a:defRPr>
            </a:pPr>
            <a:r>
              <a:t>LDA and NMF topic assignments are evaluated against known categories using Normalized Mutual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08760"/>
            <a:ext cx="3383280" cy="1645920"/>
          </a:xfrm>
          <a:prstGeom prst="roundRect">
            <a:avLst/>
          </a:prstGeom>
          <a:solidFill>
            <a:srgbClr val="EEF3F7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645919"/>
            <a:ext cx="30540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D44"/>
                </a:solidFill>
                <a:latin typeface="Arial"/>
              </a:rPr>
              <a:t>Advanced Modules</a:t>
            </a:r>
          </a:p>
          <a:p>
            <a:pPr>
              <a:defRPr sz="1300">
                <a:solidFill>
                  <a:srgbClr val="191919"/>
                </a:solidFill>
                <a:latin typeface="Arial"/>
              </a:defRPr>
            </a:pPr>
            <a:r>
              <a:t>Semantic search backend, summarization status, multilingual functions, and conversational intents are checked.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862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91919"/>
                </a:solidFill>
                <a:latin typeface="Arial"/>
              </a:defRPr>
            </a:pPr>
            <a:r>
              <a:t>The completed notebook runs successfully from beginning to end.</a:t>
            </a:r>
          </a:p>
          <a:p>
            <a:pPr>
              <a:spcAft>
                <a:spcPts val="1100"/>
              </a:spcAft>
              <a:defRPr sz="1900">
                <a:solidFill>
                  <a:srgbClr val="191919"/>
                </a:solidFill>
                <a:latin typeface="Arial"/>
              </a:defRPr>
            </a:pPr>
            <a:r>
              <a:t>The executed notebook PDF preserves the actual outputs and metrics produced during the final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D44"/>
                </a:solidFill>
                <a:latin typeface="Arial"/>
              </a:rPr>
              <a:t>Business Value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Media monitoring and automatic content organization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Faster article review through summarization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Semantic information retrieval for analysts and researchers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Entity and sentiment tracking for market or competitive intelligence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Multilingual access through translation and cross-language search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Natural-language interaction that reduces the need to use each NLP component manually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12280" y="1645920"/>
            <a:ext cx="4480560" cy="3200400"/>
          </a:xfrm>
          <a:prstGeom prst="roundRect">
            <a:avLst/>
          </a:prstGeom>
          <a:solidFill>
            <a:srgbClr val="EEF3F7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76872" y="1783080"/>
            <a:ext cx="415137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2D44"/>
                </a:solidFill>
                <a:latin typeface="Arial"/>
              </a:rPr>
              <a:t>Potential ROI</a:t>
            </a:r>
          </a:p>
          <a:p>
            <a:pPr>
              <a:defRPr sz="1300">
                <a:solidFill>
                  <a:srgbClr val="191919"/>
                </a:solidFill>
                <a:latin typeface="Arial"/>
              </a:defRPr>
            </a:pPr>
            <a:r>
              <a:t>The prototype demonstrates how automation can reduce repetitive reading, categorization, searching, and summarization. A production deployment would measure staff time saved, infrastructure/model costs, processing volume, and analyst productivity before assigning a financial ROI.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D44"/>
                </a:solidFill>
                <a:latin typeface="Arial"/>
              </a:rPr>
              <a:t>Limitations and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The dataset represents one publisher and a limited historical collection.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Sentiment analysis can misinterpret irony or complex reporting.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Named Entity Recognition can miss uncommon or ambiguous entities.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Topic labels require human interpretation.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Translation and summarization can lose or distort context.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The dataset does not provide authentic dates for reliable temporal trend claims.</a:t>
            </a:r>
          </a:p>
          <a:p>
            <a:pPr>
              <a:spcAft>
                <a:spcPts val="1100"/>
              </a:spcAft>
              <a:defRPr sz="1800">
                <a:solidFill>
                  <a:srgbClr val="191919"/>
                </a:solidFill>
                <a:latin typeface="Arial"/>
              </a:defRPr>
            </a:pPr>
            <a:r>
              <a:t>Human review remains important for high-impact editorial or business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D44"/>
                </a:solidFill>
                <a:latin typeface="Arial"/>
              </a:rPr>
              <a:t>Conclusion and Future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91919"/>
                </a:solidFill>
                <a:latin typeface="Arial"/>
              </a:defRPr>
            </a:pPr>
            <a:r>
              <a:t>NewsBot 2.0 integrates the major NLP concepts covered in ITAI 2373 into one working system.</a:t>
            </a:r>
          </a:p>
          <a:p>
            <a:pPr>
              <a:spcAft>
                <a:spcPts val="1100"/>
              </a:spcAft>
              <a:defRPr sz="2000">
                <a:solidFill>
                  <a:srgbClr val="191919"/>
                </a:solidFill>
                <a:latin typeface="Arial"/>
              </a:defRPr>
            </a:pPr>
            <a:r>
              <a:t>The project progressed from preprocessing and classification to topic modeling, semantic retrieval, multilingual processing, and conversational AI.</a:t>
            </a:r>
          </a:p>
          <a:p>
            <a:pPr>
              <a:spcAft>
                <a:spcPts val="1100"/>
              </a:spcAft>
              <a:defRPr sz="2000">
                <a:solidFill>
                  <a:srgbClr val="191919"/>
                </a:solidFill>
                <a:latin typeface="Arial"/>
              </a:defRPr>
            </a:pPr>
            <a:r>
              <a:t>Future improvements could include live news feeds, stronger transformer models, expanded multilingual datasets, improved conversational memory, and web/API deployment.</a:t>
            </a:r>
          </a:p>
          <a:p>
            <a:pPr>
              <a:spcAft>
                <a:spcPts val="1100"/>
              </a:spcAft>
              <a:defRPr sz="2000">
                <a:solidFill>
                  <a:srgbClr val="191919"/>
                </a:solidFill>
                <a:latin typeface="Arial"/>
              </a:defRPr>
            </a:pPr>
            <a:r>
              <a:t>The final result provides a strong foundation for a portfolio-quality news intelligence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5715000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A2D44"/>
                </a:solidFill>
                <a:latin typeface="Ari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